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8" r:id="rId11"/>
    <p:sldId id="26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GAN KUMAR J K" initials="GJ" lastIdx="1" clrIdx="0">
    <p:extLst>
      <p:ext uri="{19B8F6BF-5375-455C-9EA6-DF929625EA0E}">
        <p15:presenceInfo xmlns:p15="http://schemas.microsoft.com/office/powerpoint/2012/main" userId="0232efcbacf4ac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188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capstone and its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project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dataset and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KPI cards, trend, country comparison, CFR/recovery views and regional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Americas has the highest confirmed-case burden at 8,839,286.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rate calculations and avoid causal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ranking uses the latest cumulative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these as descriptive findings from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cleaning and threshold validation. The dataset has no missing or duplicate rows. A small number of negative daily changes exist; these can reflect retrospective reporting corrections, so do not claim they were all deleted. Mention the logical thresholds used to validate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cumulative measures must use the latest date in the current filter context. The original SUM across every row produces a misleading value such as ~829M because it adds cumulative snapshots repeatedly. CFR and Recovery Rate are percentages created from the latest-date totals. The moving average uses daily new cases, not cumulative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summarizing achievements and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7324D"/>
                </a:solidFill>
              </a:rPr>
              <a:t>COVID-19 Global Impact Analysis &amp; Visualization</a:t>
            </a:r>
          </a:p>
          <a:p>
            <a:pPr algn="ctr"/>
            <a:r>
              <a:rPr sz="1900">
                <a:solidFill>
                  <a:srgbClr val="2C7A7B"/>
                </a:solidFill>
              </a:rPr>
              <a:t>Capstone Project Demonstration using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0788" y="3794760"/>
            <a:ext cx="3779946" cy="7540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dirty="0">
                <a:solidFill>
                  <a:srgbClr val="64748B"/>
                </a:solidFill>
              </a:rPr>
              <a:t>Presented by: </a:t>
            </a:r>
            <a:r>
              <a:rPr lang="en-US" sz="1500" dirty="0">
                <a:solidFill>
                  <a:srgbClr val="64748B"/>
                </a:solidFill>
              </a:rPr>
              <a:t>Gagan Kumar J K</a:t>
            </a:r>
            <a:endParaRPr sz="1500" dirty="0">
              <a:solidFill>
                <a:srgbClr val="64748B"/>
              </a:solidFill>
            </a:endParaRPr>
          </a:p>
          <a:p>
            <a:pPr algn="ctr"/>
            <a:r>
              <a:rPr sz="1500" dirty="0">
                <a:solidFill>
                  <a:srgbClr val="64748B"/>
                </a:solidFill>
              </a:rPr>
              <a:t>Course / Institution: </a:t>
            </a:r>
            <a:r>
              <a:rPr lang="en-US" sz="1500" dirty="0">
                <a:solidFill>
                  <a:srgbClr val="64748B"/>
                </a:solidFill>
              </a:rPr>
              <a:t>Data Science/ IMARTICUS</a:t>
            </a:r>
            <a:endParaRPr sz="1500" dirty="0">
              <a:solidFill>
                <a:srgbClr val="64748B"/>
              </a:solidFill>
            </a:endParaRPr>
          </a:p>
          <a:p>
            <a:pPr algn="ctr"/>
            <a:r>
              <a:rPr sz="1300" dirty="0">
                <a:solidFill>
                  <a:srgbClr val="64748B"/>
                </a:solidFill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What the dashboard is designed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3447"/>
                </a:solidFill>
              </a:defRPr>
            </a:pPr>
            <a:r>
              <a:t>• Analyze global COVID-19 trends over the available reporting period.</a:t>
            </a:r>
          </a:p>
          <a:p>
            <a:pPr>
              <a:spcAft>
                <a:spcPts val="800"/>
              </a:spcAft>
              <a:defRPr sz="1800">
                <a:solidFill>
                  <a:srgbClr val="243447"/>
                </a:solidFill>
              </a:defRPr>
            </a:pPr>
            <a:r>
              <a:t>• Compare countries and WHO regions using cases, deaths, recoveries and active cases.</a:t>
            </a:r>
          </a:p>
          <a:p>
            <a:pPr>
              <a:spcAft>
                <a:spcPts val="800"/>
              </a:spcAft>
              <a:defRPr sz="1800">
                <a:solidFill>
                  <a:srgbClr val="243447"/>
                </a:solidFill>
              </a:defRPr>
            </a:pPr>
            <a:r>
              <a:t>• Measure outcomes using Case Fatality Rate (CFR) and Recovery Rate.</a:t>
            </a:r>
          </a:p>
          <a:p>
            <a:pPr>
              <a:spcAft>
                <a:spcPts val="800"/>
              </a:spcAft>
              <a:defRPr sz="1800">
                <a:solidFill>
                  <a:srgbClr val="243447"/>
                </a:solidFill>
              </a:defRPr>
            </a:pPr>
            <a:r>
              <a:t>• Use Power BI to turn raw records into interactive analytical 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17320"/>
            <a:ext cx="3383280" cy="10972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16,480,485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Latest global confirmed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743200"/>
            <a:ext cx="3383280" cy="10972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654,036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Latest global deaths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069080"/>
            <a:ext cx="3383280" cy="10972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3.97%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Latest global CFR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3592" y="6492240"/>
            <a:ext cx="10935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|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Dataset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Actual uploaded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91840" cy="1005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35,156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291840" cy="1005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187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Countries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25880"/>
            <a:ext cx="3291840" cy="1005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188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Period: 22 January 2020 to 27 July 2020.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10 fields covering cumulative and daily COVID-19 measures plus WHO Region.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Power Query supports preparation; DAX supports KPIs and rates.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No vaccination variables are present, so vaccination is future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3592" y="6492240"/>
            <a:ext cx="10935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|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Dashboard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3592" y="6492240"/>
            <a:ext cx="10935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|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A13A96-B3D9-0231-92F2-F7C146CF0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98" y="892213"/>
            <a:ext cx="10291578" cy="57077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WHO Regional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Comparing COVID-19 burden across six WHO regions</a:t>
            </a:r>
          </a:p>
        </p:txBody>
      </p:sp>
      <p:pic>
        <p:nvPicPr>
          <p:cNvPr id="5" name="Picture 4" descr="regional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11155680" cy="45737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3492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43447"/>
                </a:solidFill>
              </a:defRPr>
            </a:pPr>
            <a:r>
              <a:t>• The Americas has the highest confirmed-case burden: 8,839,286.</a:t>
            </a:r>
          </a:p>
          <a:p>
            <a:pPr>
              <a:spcAft>
                <a:spcPts val="800"/>
              </a:spcAft>
              <a:defRPr sz="1200">
                <a:solidFill>
                  <a:srgbClr val="243447"/>
                </a:solidFill>
              </a:defRPr>
            </a:pPr>
            <a:r>
              <a:t>• Regional impact is uneven across WHO regions.</a:t>
            </a:r>
          </a:p>
          <a:p>
            <a:pPr>
              <a:spcAft>
                <a:spcPts val="800"/>
              </a:spcAft>
              <a:defRPr sz="1200">
                <a:solidFill>
                  <a:srgbClr val="243447"/>
                </a:solidFill>
              </a:defRPr>
            </a:pPr>
            <a:r>
              <a:t>• Deaths should be interpreted alongside case counts and CFR.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3592" y="6492240"/>
            <a:ext cx="10935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800" dirty="0">
                <a:solidFill>
                  <a:srgbClr val="64748B"/>
                </a:solidFill>
              </a:rPr>
              <a:t>COVID-19 Capstone |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19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7324D"/>
                </a:solidFill>
              </a:rPr>
              <a:t>COVID-19 Severity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CFR and recovery provide outcome-focused measures</a:t>
            </a:r>
          </a:p>
        </p:txBody>
      </p:sp>
      <p:pic>
        <p:nvPicPr>
          <p:cNvPr id="5" name="Picture 4" descr="severity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7315200" cy="3000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3258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</a:defRPr>
            </a:pPr>
            <a:r>
              <a:t>• CFR = Deaths ÷ Confirmed Cases × 100.</a:t>
            </a:r>
          </a:p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</a:defRPr>
            </a:pPr>
            <a:r>
              <a:t>• Recovery Rate = Recovered ÷ Confirmed Cases × 100.</a:t>
            </a:r>
          </a:p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</a:defRPr>
            </a:pPr>
            <a:r>
              <a:t>• Global CFR at final date: 3.97%.</a:t>
            </a:r>
          </a:p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</a:defRPr>
            </a:pPr>
            <a:r>
              <a:t>• Global Recovery Rate at final date: 57.45%.</a:t>
            </a:r>
          </a:p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</a:defRPr>
            </a:pPr>
            <a:r>
              <a:t>• The scatter view compares regional outcome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3592" y="6492240"/>
            <a:ext cx="10935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|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Country-Level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Top 10 countries by confirmed cases</a:t>
            </a:r>
          </a:p>
        </p:txBody>
      </p:sp>
      <p:pic>
        <p:nvPicPr>
          <p:cNvPr id="5" name="Picture 4" descr="top_cou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7406640" cy="39121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4630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</a:defRPr>
            </a:pPr>
            <a:r>
              <a:t>• The leading country in confirmed cases is US with 4,290,259.</a:t>
            </a:r>
          </a:p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</a:defRPr>
            </a:pPr>
            <a:r>
              <a:t>• Country comparison highlights concentration of case burden.</a:t>
            </a:r>
          </a:p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</a:defRPr>
            </a:pPr>
            <a:r>
              <a:t>• Interactive filtering allows country-level investigation.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3592" y="6492240"/>
            <a:ext cx="10935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|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Evidence-backed observations from the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14600" cy="914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16,480,485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Global confirmed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143000"/>
            <a:ext cx="2514600" cy="914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654,036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Global deaths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143000"/>
            <a:ext cx="2514600" cy="914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3.97%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Global CFR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143000"/>
            <a:ext cx="2514600" cy="914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57.45%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Global recovery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The dataset reaches 16.48 million confirmed cases by 27 July 2020.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The Americas has the largest confirmed-case burden among WHO regions.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Daily new cases peak at 282,756 on 23 July 2020.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COVID-19 burden and outcomes vary across countries and regions.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CFR and Recovery Rate add outcome context beyond cumulative case counts.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3591" y="6492240"/>
            <a:ext cx="10935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Important scope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43447"/>
                </a:solidFill>
              </a:defRPr>
            </a:pPr>
            <a:r>
              <a:t>• The dataset ends on 27 July 2020 and does not represent the complete pandemic.</a:t>
            </a:r>
          </a:p>
          <a:p>
            <a:pPr>
              <a:spcAft>
                <a:spcPts val="800"/>
              </a:spcAft>
              <a:defRPr sz="1900">
                <a:solidFill>
                  <a:srgbClr val="243447"/>
                </a:solidFill>
              </a:defRPr>
            </a:pPr>
            <a:r>
              <a:t>• No vaccination variables are included in the current dataset.</a:t>
            </a:r>
          </a:p>
          <a:p>
            <a:pPr>
              <a:spcAft>
                <a:spcPts val="800"/>
              </a:spcAft>
              <a:defRPr sz="1900">
                <a:solidFill>
                  <a:srgbClr val="243447"/>
                </a:solidFill>
              </a:defRPr>
            </a:pPr>
            <a:r>
              <a:t>• Raw totals are not population-adjusted, so large countries can dominate rankings.</a:t>
            </a:r>
          </a:p>
          <a:p>
            <a:pPr>
              <a:spcAft>
                <a:spcPts val="800"/>
              </a:spcAft>
              <a:defRPr sz="1900">
                <a:solidFill>
                  <a:srgbClr val="243447"/>
                </a:solidFill>
              </a:defRPr>
            </a:pPr>
            <a:r>
              <a:t>• The analysis is descriptive and does not establish causal relationships.</a:t>
            </a:r>
          </a:p>
          <a:p>
            <a:pPr>
              <a:spcAft>
                <a:spcPts val="800"/>
              </a:spcAft>
              <a:defRPr sz="1900">
                <a:solidFill>
                  <a:srgbClr val="243447"/>
                </a:solidFill>
              </a:defRPr>
            </a:pPr>
            <a:r>
              <a:t>• Reporting practices and data quality may differ across countries.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3591" y="6492240"/>
            <a:ext cx="10935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|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Data Cleaning &amp; Threshold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How the raw CSV was checked before visualization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11430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7324D"/>
                </a:solidFill>
              </a:rPr>
              <a:t>1. Structure &amp; types</a:t>
            </a:r>
          </a:p>
          <a:p>
            <a:r>
              <a:rPr sz="1150">
                <a:solidFill>
                  <a:srgbClr val="243447"/>
                </a:solidFill>
              </a:rPr>
              <a:t>• Verified Date as date type
• Confirmed numeric fields
• Standardized field names and headers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474720" cy="11430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7324D"/>
                </a:solidFill>
              </a:rPr>
              <a:t>2. Missing-value check</a:t>
            </a:r>
          </a:p>
          <a:p>
            <a:r>
              <a:rPr sz="1150">
                <a:solidFill>
                  <a:srgbClr val="243447"/>
                </a:solidFill>
              </a:rPr>
              <a:t>• Checked all 35,156 records
• Missing cells found: 0
• No missing values required imputation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234440"/>
            <a:ext cx="3474720" cy="11430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7324D"/>
                </a:solidFill>
              </a:rPr>
              <a:t>3. Duplicate check</a:t>
            </a:r>
          </a:p>
          <a:p>
            <a:r>
              <a:rPr sz="1150">
                <a:solidFill>
                  <a:srgbClr val="243447"/>
                </a:solidFill>
              </a:rPr>
              <a:t>• Checked complete rows
• Duplicate rows found: 0
• No duplicate records required removal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3474720" cy="14173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7324D"/>
                </a:solidFill>
              </a:rPr>
              <a:t>4. Threshold / validity rules</a:t>
            </a:r>
          </a:p>
          <a:p>
            <a:r>
              <a:rPr sz="1150">
                <a:solidFill>
                  <a:srgbClr val="243447"/>
                </a:solidFill>
              </a:rPr>
              <a:t>• Cumulative cases, deaths and recoveries should be ≥ 0
• Daily counts are expected to be ≥ 0
• CFR should be between 0% and 100%
• Recovery Rate should be between 0% and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697480"/>
            <a:ext cx="3474720" cy="14173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7324D"/>
                </a:solidFill>
              </a:rPr>
              <a:t>5. Anomalies detected</a:t>
            </a:r>
          </a:p>
          <a:p>
            <a:r>
              <a:rPr sz="1150">
                <a:solidFill>
                  <a:srgbClr val="243447"/>
                </a:solidFill>
              </a:rPr>
              <a:t>• Active &lt; 0: 2 records
• New deaths &lt; 0: 38 records
• New recovered &lt; 0: 77 records
These are reporting/reconciliation corrections, so they should be flagged rather than blindly deleted.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697480"/>
            <a:ext cx="3474720" cy="14173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7324D"/>
                </a:solidFill>
              </a:rPr>
              <a:t>6. Transformation</a:t>
            </a:r>
          </a:p>
          <a:p>
            <a:r>
              <a:rPr sz="1150">
                <a:solidFill>
                  <a:srgbClr val="243447"/>
                </a:solidFill>
              </a:rPr>
              <a:t>• Aggregated country rows by Date for global trends
• Grouped countries into WHO regions
• Created DAX measures for dynamic KPIs
• Used latest-date logic for cumulative totals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C7A7B"/>
                </a:solidFill>
              </a:rPr>
              <a:t>Key point: </a:t>
            </a:r>
            <a:r>
              <a:rPr sz="1500">
                <a:solidFill>
                  <a:srgbClr val="243447"/>
                </a:solidFill>
              </a:rPr>
              <a:t>Cleaning was not simply deleting unusual values. The data was validated against logical thresholds, while negative daily changes were treated as possible reporting corrections and considered when interpreting the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3591" y="6492240"/>
            <a:ext cx="10935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DAX Measures &amp; 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How Power BI converts raw fields into meaningful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303520" cy="1325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7324D"/>
                </a:solidFill>
              </a:rPr>
              <a:t>Total Confirmed Cases</a:t>
            </a:r>
          </a:p>
          <a:p>
            <a:r>
              <a:rPr lang="en-US" dirty="0">
                <a:solidFill>
                  <a:schemeClr val="tx1"/>
                </a:solidFill>
              </a:rPr>
              <a:t>Total Confirmed Cases = SUM(</a:t>
            </a:r>
            <a:r>
              <a:rPr lang="en-US" dirty="0" err="1">
                <a:solidFill>
                  <a:schemeClr val="tx1"/>
                </a:solidFill>
              </a:rPr>
              <a:t>full_grouped</a:t>
            </a:r>
            <a:r>
              <a:rPr lang="en-US" dirty="0">
                <a:solidFill>
                  <a:schemeClr val="tx1"/>
                </a:solidFill>
              </a:rPr>
              <a:t>[Confirmed])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303520" cy="1325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7324D"/>
                </a:solidFill>
              </a:rPr>
              <a:t>Total Deaths</a:t>
            </a:r>
          </a:p>
          <a:p>
            <a:r>
              <a:rPr lang="en-US" dirty="0">
                <a:solidFill>
                  <a:schemeClr val="tx1"/>
                </a:solidFill>
              </a:rPr>
              <a:t>Total Deaths = SUM(</a:t>
            </a:r>
            <a:r>
              <a:rPr lang="en-US" dirty="0" err="1">
                <a:solidFill>
                  <a:schemeClr val="tx1"/>
                </a:solidFill>
              </a:rPr>
              <a:t>full_grouped</a:t>
            </a:r>
            <a:r>
              <a:rPr lang="en-US" dirty="0">
                <a:solidFill>
                  <a:schemeClr val="tx1"/>
                </a:solidFill>
              </a:rPr>
              <a:t>[Deaths])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15768"/>
            <a:ext cx="5303520" cy="1325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7324D"/>
                </a:solidFill>
              </a:rPr>
              <a:t>Total Recovered</a:t>
            </a:r>
          </a:p>
          <a:p>
            <a:r>
              <a:rPr lang="en-US" dirty="0">
                <a:solidFill>
                  <a:schemeClr val="tx1"/>
                </a:solidFill>
              </a:rPr>
              <a:t>Total Recovered = SUM(</a:t>
            </a:r>
            <a:r>
              <a:rPr lang="en-US" dirty="0" err="1">
                <a:solidFill>
                  <a:schemeClr val="tx1"/>
                </a:solidFill>
              </a:rPr>
              <a:t>full_grouped</a:t>
            </a:r>
            <a:r>
              <a:rPr lang="en-US" dirty="0">
                <a:solidFill>
                  <a:schemeClr val="tx1"/>
                </a:solidFill>
              </a:rPr>
              <a:t>[Recovered])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715768"/>
            <a:ext cx="5303520" cy="1325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7324D"/>
                </a:solidFill>
              </a:rPr>
              <a:t>Fatality Rate (CFR)</a:t>
            </a:r>
          </a:p>
          <a:p>
            <a:r>
              <a:rPr lang="en-US" dirty="0">
                <a:solidFill>
                  <a:schemeClr val="tx1"/>
                </a:solidFill>
              </a:rPr>
              <a:t>Fatality Rate(CFR) = IF([Total Confirmed Cases]&lt;&gt;0, DIVIDE([Total Deaths],[Total Confirmed Cases])*100,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288536"/>
            <a:ext cx="5303520" cy="1325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7324D"/>
                </a:solidFill>
              </a:rPr>
              <a:t>Recovery Rate</a:t>
            </a:r>
          </a:p>
          <a:p>
            <a:r>
              <a:rPr lang="en-US" dirty="0">
                <a:solidFill>
                  <a:schemeClr val="tx1"/>
                </a:solidFill>
              </a:rPr>
              <a:t>Recovery Rate = if([Total Confirmed Cases]&lt;&gt;0,DIVIDE([Total Recovered],[Total Confirmed Cases])*100,0)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4120" y="4297680"/>
            <a:ext cx="5303520" cy="1325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17324D"/>
                </a:solidFill>
              </a:rPr>
              <a:t>Total Active Cases</a:t>
            </a:r>
            <a:endParaRPr sz="1300" b="1" dirty="0">
              <a:solidFill>
                <a:srgbClr val="17324D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Total Active Cases = [Total Confirmed Cases]-[Total Deaths]-[Total Recovered]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8473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250" b="1" dirty="0">
              <a:solidFill>
                <a:srgbClr val="2C7A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94668" y="6492240"/>
            <a:ext cx="137249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</a:t>
            </a:r>
            <a:r>
              <a:rPr lang="en-US" sz="800" dirty="0">
                <a:solidFill>
                  <a:srgbClr val="64748B"/>
                </a:solidFill>
              </a:rPr>
              <a:t>project</a:t>
            </a:r>
            <a:endParaRPr sz="8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324D"/>
                </a:solidFill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Closing the capstone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The project converts raw COVID-19 records into an interactive Power BI analytical dashboard.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The dashboard supports global, country and WHO regional comparisons.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Trend, CFR and recovery analysis provide complementary views of pandemic impact.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The project demonstrates practical use of data preparation, DAX and visualization.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Integrate vaccination and hospitalization datasets.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Add population-adjusted rates.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Explore forecasting and machine-learning models.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Connect to refreshed or real-time sources.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</a:defRPr>
            </a:pPr>
            <a:r>
              <a:t>• Add socioeconomic and healthcare-capacity indicators.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4983480"/>
            <a:ext cx="5577840" cy="7772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7324D"/>
                </a:solidFill>
              </a:rPr>
              <a:t>Thank You</a:t>
            </a:r>
          </a:p>
          <a:p>
            <a:pPr algn="ctr"/>
            <a:r>
              <a:rPr sz="900">
                <a:solidFill>
                  <a:srgbClr val="64748B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3591" y="6492240"/>
            <a:ext cx="10935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64748B"/>
                </a:solidFill>
              </a:rPr>
              <a:t>COVID-19 Capstone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1167</Words>
  <Application>Microsoft Office PowerPoint</Application>
  <PresentationFormat>Widescreen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JK</dc:creator>
  <cp:keywords/>
  <dc:description>generated using python-pptx</dc:description>
  <cp:lastModifiedBy>GAGAN KUMAR J K</cp:lastModifiedBy>
  <cp:revision>3</cp:revision>
  <dcterms:created xsi:type="dcterms:W3CDTF">2013-01-27T09:14:16Z</dcterms:created>
  <dcterms:modified xsi:type="dcterms:W3CDTF">2026-09-08T11:31:50Z</dcterms:modified>
  <cp:category/>
</cp:coreProperties>
</file>